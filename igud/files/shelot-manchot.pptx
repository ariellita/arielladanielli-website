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943" r:id="rId2"/>
    <p:sldId id="2944" r:id="rId3"/>
    <p:sldId id="2945" r:id="rId4"/>
    <p:sldId id="2946" r:id="rId5"/>
    <p:sldId id="2947" r:id="rId6"/>
    <p:sldId id="2948" r:id="rId7"/>
    <p:sldId id="2949" r:id="rId8"/>
    <p:sldId id="2950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3"/>
  </p:normalViewPr>
  <p:slideViewPr>
    <p:cSldViewPr snapToGrid="0">
      <p:cViewPr varScale="1">
        <p:scale>
          <a:sx n="96" d="100"/>
          <a:sy n="96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69F97-6B4A-494E-AFF8-C327F3C5BA17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B783C-7E79-584D-9B84-CE61992D9BC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1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64D6-A97A-7EA2-48C5-6DDB5A960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42BC8-6C0A-A0F3-D693-E17DB4062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CFA87-7CBC-AE02-3947-2A5AB725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DB007-BCD0-8AFF-48DE-5C33CBC5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7BEC2-DD81-A628-5BB1-1D0970FF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651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F463-14E0-2D51-0865-007B0C34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FBD1-C5A3-3CB9-EC0B-D99911E3E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21E11-009A-3652-AC44-81AC81B9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2FBB-E4F9-91B6-2CD2-01E084B1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B7D3-BCDD-11A5-2FAA-944B55CA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6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C848-6C65-01FF-18CB-B795011F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D0A3B-0E10-D3F8-A8A2-932B833E4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C8233-58D9-40D6-6436-B51D4E22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AE7C-38DF-03A9-AB73-333C2742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F3C1-647E-AA02-E70E-5C86E56D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457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0CF3-A475-C5CA-860C-50000C2D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848B6-2853-5D72-5F19-5635C36E1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2007-E14E-CD67-3E1B-27C8EA1BA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18FDD-4DF0-228A-5623-D5C03719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C5090-674C-2E1B-28AC-3DF8FCCC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D5903-6E6B-CA75-8569-2BEA92DA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107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616F-877F-69DE-1988-93445083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8BEE1-7457-D0AB-7D7E-0D9AAD11C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EFF95-3C81-6539-DBC1-94FCA8CE5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5B130-6D24-1ABD-5884-D3680AD6E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F05BD-1CBF-57B1-66FC-BD7D03476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04111-5326-6203-EDC9-AB665CF2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62E0C-CBAB-1922-F88C-604E7362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4D11C-CDD1-3342-8FD3-5CCF2CDE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520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D53C-BC67-B116-0CE0-76C688A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EEE08-AADE-F4CB-8865-C095445D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59696-0B95-C27A-6F0A-760DA29A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8B65-FD73-9790-9117-A75F18A5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924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FCE-500C-DE1F-D6D7-F0BB41FD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3448-90A5-FA3F-1FCC-17C51C769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50076-2E60-1A0B-9237-F8F0256AA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C5191-9AA7-EBC8-2925-4C46D339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64808-1A67-5220-9229-0C2837A2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6733-4092-7933-322D-B0128D87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262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E52D-A6C3-C54B-0DF6-0DF2C34A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595FF-C0C1-F267-B8E0-12FD685DE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A826D-5EAA-C02E-CF36-905098AA2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6848-1757-D449-22F0-ADDFF3BC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A4C1A-2E58-9FB4-AC7D-8B6CEC89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EB033-9683-7280-F5C5-74E73B73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990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8735-F411-B814-0E11-877E51A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B1549-0604-117A-CE8E-9397C2B6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E5EFC-1ADD-D140-E0E9-5E6B4BEB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DF984-FCAB-37E9-42B4-F9B83959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20F74-99FE-1239-F09A-A93E3128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41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66F4D-DF69-D635-A672-48D5C44CB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4F6E8-BC42-86A6-B0BA-BD9FD7C43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DB441-A3DD-BE1D-04CD-843573AC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FF6C1-D7CA-B4AD-CDE9-3C6244E62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DCD3-F80F-C769-2DAC-45CA2635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7371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F72F5F-40E5-5A55-D631-C7217D8C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827D7-999C-8747-4411-293F50FA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3BEB-3AE5-1D53-D8C5-A47239ECE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0626-1050-5A90-143A-433E1C43E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EF0DF-7729-D1D2-6473-C572255A7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21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189203-C956-D1D1-4289-16CD1A172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E8B39D-14A5-EFCC-8C79-44F35DC48C65}"/>
              </a:ext>
            </a:extLst>
          </p:cNvPr>
          <p:cNvSpPr txBox="1"/>
          <p:nvPr/>
        </p:nvSpPr>
        <p:spPr>
          <a:xfrm>
            <a:off x="1706526" y="2919343"/>
            <a:ext cx="8384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60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שאלות מנחות לתוכנית עבודה</a:t>
            </a:r>
            <a:endParaRPr lang="en-IL" sz="60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A79AFD-02C8-2433-4AF9-2004AB3B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1D2B82-4578-8B47-71AC-B1E548E1D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706" y="5547669"/>
            <a:ext cx="2284429" cy="15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8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36D9-66C0-2909-078D-6933373A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BC4E183-6EDE-60F9-AA29-F1D83E22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F44FAE8-A927-B97A-A16D-17920974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3E7C0C-9084-CC02-F440-467903DFFFF9}"/>
              </a:ext>
            </a:extLst>
          </p:cNvPr>
          <p:cNvSpPr txBox="1"/>
          <p:nvPr/>
        </p:nvSpPr>
        <p:spPr>
          <a:xfrm>
            <a:off x="197708" y="979611"/>
            <a:ext cx="11062252" cy="69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מהו האתגר שבחרתם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מהי המגמה/תופעה שבחרתם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מה משנה המגמה/תופעה בהתנהגות, בצרכים או בציפיות של הצרכנים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מי הקהל שהכי מושפע מהשינוי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כיצד ננסח מחדש את האתגר לאור המגמה?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התוצר לשלב זה:</a:t>
            </a:r>
            <a:b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בגלל מגמת/תופעה__________ קהל המטרה __________ מתמודד עם/מצפה ל___________. </a:t>
            </a:r>
          </a:p>
          <a:p>
            <a:pPr algn="r" rtl="1">
              <a:lnSpc>
                <a:spcPct val="150000"/>
              </a:lnSpc>
            </a:pPr>
            <a:r>
              <a:rPr lang="he-IL" sz="2800" dirty="0">
                <a:latin typeface="Calibri" panose="020F0502020204030204" pitchFamily="34" charset="0"/>
                <a:cs typeface="Calibri" panose="020F0502020204030204" pitchFamily="34" charset="0"/>
              </a:rPr>
              <a:t>לכן האתגר שלנו הוא: כיצד נוכל ______________</a:t>
            </a:r>
            <a:endParaRPr lang="en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IL" sz="2800" dirty="0">
              <a:solidFill>
                <a:srgbClr val="1E3CFF"/>
              </a:solidFill>
              <a:effectLst/>
              <a:latin typeface="Calibri" panose="020F0502020204030204" pitchFamily="34" charset="0"/>
              <a:ea typeface="Heebo" pitchFamily="2" charset="-79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0EE80-388F-D7DD-D0FD-69017879E20A}"/>
              </a:ext>
            </a:extLst>
          </p:cNvPr>
          <p:cNvSpPr txBox="1"/>
          <p:nvPr/>
        </p:nvSpPr>
        <p:spPr>
          <a:xfrm>
            <a:off x="3051313" y="16664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חידוד האתגר דרך המגמה/תופעה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54CEC6-D2FD-E520-FC67-C35FF2EA4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1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85BF-9644-3A6D-0D2F-52E2AA84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02C0A5C-FB84-865E-37DD-58FF5F4E3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07B711-DCFB-0F57-CC03-A5F40812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5D2FF2-58DC-5C0F-5C18-77228E1554F2}"/>
              </a:ext>
            </a:extLst>
          </p:cNvPr>
          <p:cNvSpPr txBox="1"/>
          <p:nvPr/>
        </p:nvSpPr>
        <p:spPr>
          <a:xfrm>
            <a:off x="197708" y="979611"/>
            <a:ext cx="11397944" cy="5278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איזה שינוי נרצה לראות אצל הלקוח, הקהל או הארגון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914400" lvl="1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מה נקודת הפתיחה ומהו היעד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914400" lvl="1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עד מתי נרצה להגיע ליעד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914400" lvl="1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כיצד נזהה הצלחה גם מבחינת הלקוח וגם מבחינה הארגון</a:t>
            </a:r>
          </a:p>
          <a:p>
            <a:pPr lvl="1" algn="r" rtl="1">
              <a:lnSpc>
                <a:spcPct val="150000"/>
              </a:lnSpc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התוצר לשלב זה:</a:t>
            </a:r>
            <a:b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עד ________נרצה  להשיג את השינוי הבא _________. 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נדע שהצלחנו מבחינת הלקוח _________ ומבחינת הארגון __________</a:t>
            </a:r>
            <a:endParaRPr lang="en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1372B-81C7-6020-0FA8-08803717A46D}"/>
              </a:ext>
            </a:extLst>
          </p:cNvPr>
          <p:cNvSpPr txBox="1"/>
          <p:nvPr/>
        </p:nvSpPr>
        <p:spPr>
          <a:xfrm>
            <a:off x="3051313" y="16664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הגדרת התוצאה הרצויה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715942-24CB-BBEC-E15B-9EDFCAB1C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FDD9-F22F-83EE-D122-95B3B867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743BA860-1E4A-678E-ED6F-3FAD277A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01160A-7318-2675-877B-FDD8946F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A151C3-AEBB-735A-EA37-86D6DCA05B45}"/>
              </a:ext>
            </a:extLst>
          </p:cNvPr>
          <p:cNvSpPr txBox="1"/>
          <p:nvPr/>
        </p:nvSpPr>
        <p:spPr>
          <a:xfrm>
            <a:off x="-119270" y="979611"/>
            <a:ext cx="11714922" cy="675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מה נתחיל/נשנה/נפסיק לעשות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1028700" lvl="1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אילו 2-3 יוזמות יכולות לייצר את השינוי? </a:t>
            </a:r>
            <a:endParaRPr lang="en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28700" lvl="1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באיזו יוזמה נתמקד בתחילה ומדוע</a:t>
            </a:r>
          </a:p>
          <a:p>
            <a:pPr lvl="1" algn="r" rtl="1">
              <a:lnSpc>
                <a:spcPct val="150000"/>
              </a:lnSpc>
            </a:pPr>
            <a:endParaRPr lang="he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r" rtl="1">
              <a:lnSpc>
                <a:spcPct val="150000"/>
              </a:lnSpc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התוצר לשלב זה:</a:t>
            </a:r>
            <a:b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כדי להשיג את התוצאה הרצויה, נתמקד תחילה ב- ____________ משום שזה צפוי לייצר לנו ________וניתן להתחיל ליישם אותה באמצעות ______________</a:t>
            </a:r>
            <a:b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0EB2F-5511-8B8D-1433-359DAC3F70DD}"/>
              </a:ext>
            </a:extLst>
          </p:cNvPr>
          <p:cNvSpPr txBox="1"/>
          <p:nvPr/>
        </p:nvSpPr>
        <p:spPr>
          <a:xfrm>
            <a:off x="2468217" y="16536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בחירת כיוון פעולה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E17343-5F26-E899-6F66-E3AC797E0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0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8188-F1F2-0AD3-BC65-D774855E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D829DA2A-789A-5B17-55A1-5A3DCB9D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402669F-27AD-87B2-53A2-535873A8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FCEE17-5801-31D5-F7CE-407C30B1C078}"/>
              </a:ext>
            </a:extLst>
          </p:cNvPr>
          <p:cNvSpPr txBox="1"/>
          <p:nvPr/>
        </p:nvSpPr>
        <p:spPr>
          <a:xfrm>
            <a:off x="-119270" y="979611"/>
            <a:ext cx="11714922" cy="529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מהו הניסוי או הפיילוט הקטן ביותר שאפשר להתחיל בו</a:t>
            </a:r>
            <a:r>
              <a:rPr lang="en-IL" sz="2400" dirty="0"/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מה נעשה ב־30, ב־60 וב־90 הימים הראשונים</a:t>
            </a:r>
            <a:r>
              <a:rPr lang="en-IL" sz="2400" dirty="0"/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מי מוביל ומי השותפים הנדרשים</a:t>
            </a:r>
            <a:r>
              <a:rPr lang="en-IL" sz="2400" dirty="0"/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אילו מידע, טכנולוגיה, תקציב או יכולות חסרים</a:t>
            </a:r>
            <a:r>
              <a:rPr lang="en-IL" sz="2400" dirty="0"/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באילו החלטות או גורמים אחרים התוכנית תלויה</a:t>
            </a:r>
            <a:r>
              <a:rPr lang="en-IL" sz="2400" dirty="0"/>
              <a:t>?</a:t>
            </a:r>
            <a:endParaRPr lang="he-IL" sz="2400" dirty="0"/>
          </a:p>
          <a:p>
            <a:pPr lvl="1" algn="r" rtl="1">
              <a:lnSpc>
                <a:spcPct val="150000"/>
              </a:lnSpc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התוצר לשלב זה:</a:t>
            </a:r>
            <a:b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400" dirty="0"/>
              <a:t>נתחיל בפיילוט של  _____________. בתוך 30 יום נתקדם ל _____________בתוך 60 יום  נמשיך/נהדק/נתקדם ל ______________ ובתוך 90 יום נתמקד ב______________.</a:t>
            </a:r>
            <a:br>
              <a:rPr lang="he-IL" sz="2400" dirty="0"/>
            </a:br>
            <a:r>
              <a:rPr lang="he-IL" sz="2400" dirty="0"/>
              <a:t>את המהלך יובילו __________________.</a:t>
            </a:r>
            <a:endParaRPr lang="en-IL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7F414-EB44-2A5C-56C5-CE26FF2376EB}"/>
              </a:ext>
            </a:extLst>
          </p:cNvPr>
          <p:cNvSpPr txBox="1"/>
          <p:nvPr/>
        </p:nvSpPr>
        <p:spPr>
          <a:xfrm>
            <a:off x="2644346" y="61628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הפיכת הרעיון לתוכנית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9383FE-7B5D-3305-059C-C3EDF4E5E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8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A52E-3138-636F-5FE4-FA8C03F4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79768C5-2CC0-C20D-E9B1-7032A528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DE084A5-2568-9E9D-1D14-CFA6B42B8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E6214F-A950-DA4E-0AE0-0827442B0335}"/>
              </a:ext>
            </a:extLst>
          </p:cNvPr>
          <p:cNvSpPr txBox="1"/>
          <p:nvPr/>
        </p:nvSpPr>
        <p:spPr>
          <a:xfrm>
            <a:off x="-119270" y="979611"/>
            <a:ext cx="11714922" cy="675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מהו המדד/ התוצאה המרכזית שנצפה לראות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אילו סימנים מוקדמים יראו שאנחנו בכיוון הנכון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מה נרצה ללמוד מהפיילוט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באיזו תדירות בודקים התקדמות</a:t>
            </a:r>
            <a:r>
              <a:rPr lang="en-IL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מה יגרום לנו להרחיב, לשנות או לעצור</a:t>
            </a:r>
          </a:p>
          <a:p>
            <a:pPr lvl="1" algn="r" rtl="1">
              <a:lnSpc>
                <a:spcPct val="150000"/>
              </a:lnSpc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התוצר לשלב זה:</a:t>
            </a:r>
            <a:b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ההצלחה תימדד ב_____________ שיעלה/ירד מ ___________. נלמד האם ___________ ובהתאם נחליט אם להרחיב, לשנות, לעצור.</a:t>
            </a:r>
            <a:b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F1AE3-3B29-600F-A650-B642842E99C0}"/>
              </a:ext>
            </a:extLst>
          </p:cNvPr>
          <p:cNvSpPr txBox="1"/>
          <p:nvPr/>
        </p:nvSpPr>
        <p:spPr>
          <a:xfrm>
            <a:off x="1726096" y="16536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מדידה ולמידה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FEE8B3-B319-7B35-F03E-C3270FB62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5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AA29-B7D4-600B-5664-06798E13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CFAAC182-343E-F332-B766-84DD72B3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94C737-4BAA-7E9B-A500-42AB363180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97708" y="16536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610A92-B9FA-8CE1-1D33-4317AE09BADE}"/>
              </a:ext>
            </a:extLst>
          </p:cNvPr>
          <p:cNvSpPr txBox="1"/>
          <p:nvPr/>
        </p:nvSpPr>
        <p:spPr>
          <a:xfrm>
            <a:off x="197708" y="1625943"/>
            <a:ext cx="11714922" cy="3691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מהם הסיכונים המרכזיים במהלך (מבחינת צרכן, מותג, פרטיות)</a:t>
            </a:r>
            <a:endParaRPr lang="en-IL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כיצד אפשר למזער/להימנע מסיכונים</a:t>
            </a:r>
            <a:r>
              <a:rPr lang="en-IL" sz="4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מי אחראי לעקוב אחרי הסיכון</a:t>
            </a:r>
            <a:r>
              <a:rPr lang="en-IL" sz="4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A24F1-E541-FC4A-A2A0-61344E09F532}"/>
              </a:ext>
            </a:extLst>
          </p:cNvPr>
          <p:cNvSpPr txBox="1"/>
          <p:nvPr/>
        </p:nvSpPr>
        <p:spPr>
          <a:xfrm>
            <a:off x="1726096" y="16536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סיכונים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086D1E-1E67-1082-6F13-C2A861C35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2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8DC8-6392-DD6B-7466-13693025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CEAC2DCA-D13A-3380-17BF-8C162EC34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67CD65-3A0F-C6D1-A11A-45BE3B0F99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104942" y="0"/>
            <a:ext cx="2446638" cy="1295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6F6961-6C09-630B-990D-0CDCB635694A}"/>
              </a:ext>
            </a:extLst>
          </p:cNvPr>
          <p:cNvSpPr txBox="1"/>
          <p:nvPr/>
        </p:nvSpPr>
        <p:spPr>
          <a:xfrm>
            <a:off x="197708" y="1625943"/>
            <a:ext cx="1171492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בגלל מגמת 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זיהינו אתגר של </a:t>
            </a:r>
            <a:r>
              <a:rPr lang="en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_________</a:t>
            </a:r>
            <a:br>
              <a:rPr lang="en-IL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בקרב _________</a:t>
            </a:r>
            <a:b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בחרנו לפעול באמצעות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 במטרה להשיג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עד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_________</a:t>
            </a:r>
            <a:b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נתחיל בפיילוט של _________________________</a:t>
            </a:r>
            <a:b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וההצלחה תימדד באמצעות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 __________</a:t>
            </a:r>
            <a:b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הצעד הראשון הוא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 באחריות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________</a:t>
            </a: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b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000" dirty="0">
                <a:latin typeface="Calibri" panose="020F0502020204030204" pitchFamily="34" charset="0"/>
                <a:cs typeface="Calibri" panose="020F0502020204030204" pitchFamily="34" charset="0"/>
              </a:rPr>
              <a:t>עד </a:t>
            </a:r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________</a:t>
            </a:r>
            <a:endParaRPr lang="en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A938B-9957-D9A6-E3DB-C7C5F0EDDD81}"/>
              </a:ext>
            </a:extLst>
          </p:cNvPr>
          <p:cNvSpPr txBox="1"/>
          <p:nvPr/>
        </p:nvSpPr>
        <p:spPr>
          <a:xfrm>
            <a:off x="1726096" y="165360"/>
            <a:ext cx="6202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300"/>
              </a:spcAft>
            </a:pPr>
            <a:r>
              <a:rPr lang="he-IL" sz="3600" dirty="0">
                <a:solidFill>
                  <a:srgbClr val="FF5A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הצגת התוכנית</a:t>
            </a:r>
            <a:endParaRPr lang="en-IL" sz="3600" dirty="0">
              <a:solidFill>
                <a:srgbClr val="FF5A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E9FB1B-3F0A-2A6C-708C-96A62A38B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332" y="0"/>
            <a:ext cx="1916668" cy="12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882077121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5A1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CA73ED-CD9A-1F4C-9646-E1AECDEFBB6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b3827bf-f24c-418c-9aee-69d8a41fb9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6165</TotalTime>
  <Words>401</Words>
  <Application>Microsoft Macintosh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Courier New</vt:lpstr>
      <vt:lpstr>Office Theme [1779882077121]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אריאלה דניאלי</dc:creator>
  <cp:lastModifiedBy>אריאלה דניאלי</cp:lastModifiedBy>
  <cp:revision>39</cp:revision>
  <dcterms:created xsi:type="dcterms:W3CDTF">2026-05-26T09:15:52Z</dcterms:created>
  <dcterms:modified xsi:type="dcterms:W3CDTF">2026-08-27T11:09:36Z</dcterms:modified>
</cp:coreProperties>
</file>